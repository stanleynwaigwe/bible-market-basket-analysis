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Bible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0CCEE"/>
                </a:solidFill>
              </a:rPr>
              <a:t>Market Basket
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</a:rPr>
              <a:t>Using cross-reference data to find
which books of the Bible get
cited together from Genesis verses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A78"/>
                </a:solidFill>
              </a:rPr>
              <a:t>What is Market Basket Analysis?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11680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</a:rPr>
              <a:t>Originally a retail technique</a:t>
            </a:r>
            <a:r>
              <a:rPr lang="en-US" sz="1400" b="0" i="0" dirty="0">
                <a:solidFill>
                  <a:srgbClr val="555555"/>
                </a:solidFill>
              </a:rPr>
              <a:t>, </a:t>
            </a:r>
            <a:r>
              <a:rPr sz="1400" b="0" i="0" dirty="0">
                <a:solidFill>
                  <a:srgbClr val="555555"/>
                </a:solidFill>
              </a:rPr>
              <a:t>stores use it to find products that get bought together (e.g. bread and butter).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788920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</a:rPr>
              <a:t>Here </a:t>
            </a:r>
            <a:r>
              <a:rPr lang="en-US" sz="1400" b="0" i="0" dirty="0">
                <a:solidFill>
                  <a:srgbClr val="555555"/>
                </a:solidFill>
              </a:rPr>
              <a:t>its</a:t>
            </a:r>
            <a:r>
              <a:rPr sz="1400" b="0" i="0" dirty="0">
                <a:solidFill>
                  <a:srgbClr val="555555"/>
                </a:solidFill>
              </a:rPr>
              <a:t> </a:t>
            </a:r>
            <a:r>
              <a:rPr lang="en-US" sz="1400" b="0" i="0" dirty="0">
                <a:solidFill>
                  <a:srgbClr val="555555"/>
                </a:solidFill>
              </a:rPr>
              <a:t>applied</a:t>
            </a:r>
            <a:r>
              <a:rPr sz="1400" b="0" i="0" dirty="0">
                <a:solidFill>
                  <a:srgbClr val="555555"/>
                </a:solidFill>
              </a:rPr>
              <a:t> the same idea to Scripture. Instead of products in a cart, </a:t>
            </a:r>
            <a:r>
              <a:rPr lang="en-US" sz="1400" b="0" i="0" dirty="0">
                <a:solidFill>
                  <a:srgbClr val="555555"/>
                </a:solidFill>
              </a:rPr>
              <a:t>its </a:t>
            </a:r>
            <a:r>
              <a:rPr sz="1400" b="0" i="0" dirty="0">
                <a:solidFill>
                  <a:srgbClr val="555555"/>
                </a:solidFill>
              </a:rPr>
              <a:t>books of the Bible appearing in the same Genesis verse cross-reference.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703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A78"/>
                </a:solidFill>
              </a:rPr>
              <a:t>The question we're asking: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114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"When a Genesis verse references one book, which other books tend to show up in the same cross-reference?"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A78"/>
                </a:solidFill>
              </a:rPr>
              <a:t>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377440" cy="1645920"/>
          </a:xfrm>
          <a:prstGeom prst="rect">
            <a:avLst/>
          </a:prstGeom>
          <a:solidFill>
            <a:srgbClr val="F7F8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A7EBF"/>
                </a:solidFill>
              </a:rPr>
              <a:t>837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transactions
(Genesis verses)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960120"/>
            <a:ext cx="2377440" cy="1645920"/>
          </a:xfrm>
          <a:prstGeom prst="rect">
            <a:avLst/>
          </a:prstGeom>
          <a:solidFill>
            <a:srgbClr val="F7F8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005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A7EBF"/>
                </a:solidFill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unique books
appear as items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960120"/>
            <a:ext cx="2377440" cy="1645920"/>
          </a:xfrm>
          <a:prstGeom prst="rect">
            <a:avLst/>
          </a:prstGeom>
          <a:solidFill>
            <a:srgbClr val="F7F8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005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A7EBF"/>
                </a:solidFill>
              </a:rPr>
              <a:t>6.4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books per basket
on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Each transaction is one Genesis verse. The items are the books its cross-references point to. Here's a real example: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5120640" cy="868680"/>
          </a:xfrm>
          <a:prstGeom prst="rect">
            <a:avLst/>
          </a:prstGeom>
          <a:solidFill>
            <a:srgbClr val="F0F5FB"/>
          </a:solidFill>
          <a:ln>
            <a:solidFill>
              <a:srgbClr val="3A7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392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A78"/>
                </a:solidFill>
              </a:rPr>
              <a:t>Genesis 1:1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301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"In the beginning God created the heaven and the earth."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99999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383280"/>
            <a:ext cx="877824" cy="29260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40156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Psalms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9752" y="3383280"/>
            <a:ext cx="877824" cy="29260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51192" y="340156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Isaiah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3383280"/>
            <a:ext cx="1078992" cy="29260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34015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Jeremiah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6024" y="3383280"/>
            <a:ext cx="676656" cy="292608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27464" y="340156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John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22408" y="3383280"/>
            <a:ext cx="877824" cy="292608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13848" y="3401568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Romans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822191"/>
            <a:ext cx="978408" cy="292608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840479"/>
            <a:ext cx="978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Hebrews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0336" y="3822191"/>
            <a:ext cx="877824" cy="29260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51776" y="384047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Exodus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3822191"/>
            <a:ext cx="1280160" cy="292608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39328" y="38404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7776" y="3822191"/>
            <a:ext cx="576072" cy="29260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29216" y="3840479"/>
            <a:ext cx="576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23576" y="3822191"/>
            <a:ext cx="1280160" cy="29260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5016" y="38404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+ 15 more…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A78"/>
                </a:solidFill>
              </a:rPr>
              <a:t>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4864" cy="868680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How often does a book appear across all 837 Genesis verse baskets?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7EBF"/>
                </a:solidFill>
              </a:rPr>
              <a:t>Support(A)  =  baskets with A  ÷  total baskets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A78"/>
                </a:solidFill>
              </a:rPr>
              <a:t>Example from the data: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59152"/>
            <a:ext cx="5852160" cy="1115568"/>
          </a:xfrm>
          <a:prstGeom prst="rect">
            <a:avLst/>
          </a:prstGeom>
          <a:solidFill>
            <a:srgbClr val="F0F5FB"/>
          </a:solidFill>
          <a:ln>
            <a:solidFill>
              <a:srgbClr val="3A7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4140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A78"/>
                </a:solidFill>
              </a:rPr>
              <a:t>Genesis 1:1  — one of 344 baskets containing Psalms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5669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"In the beginning God created the heaven and the earth."  
→ cross-references include Psalms 8:3: "When I consider thy heavens, the work of thy fingers…"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8444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344 out of 837 baskets contain Psalms  →  Support = 344 ÷ 837 = 0.41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69080"/>
            <a:ext cx="5852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i="1" dirty="0">
                <a:solidFill>
                  <a:srgbClr val="999999"/>
                </a:solidFill>
              </a:rPr>
              <a:t>F</a:t>
            </a:r>
            <a:r>
              <a:rPr sz="1200" b="0" i="1" dirty="0">
                <a:solidFill>
                  <a:srgbClr val="999999"/>
                </a:solidFill>
              </a:rPr>
              <a:t>ilter out anything below 10%</a:t>
            </a:r>
            <a:r>
              <a:rPr lang="en-US" sz="1200" b="0" i="1" dirty="0">
                <a:solidFill>
                  <a:srgbClr val="999999"/>
                </a:solidFill>
              </a:rPr>
              <a:t>, </a:t>
            </a:r>
            <a:r>
              <a:rPr sz="1200" b="0" i="1" dirty="0">
                <a:solidFill>
                  <a:srgbClr val="999999"/>
                </a:solidFill>
              </a:rPr>
              <a:t>too rare to be a real pattern.</a:t>
            </a:r>
          </a:p>
        </p:txBody>
      </p:sp>
      <p:pic>
        <p:nvPicPr>
          <p:cNvPr id="13" name="Picture 12" descr="01_suppor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577840" cy="2743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A78"/>
                </a:solidFill>
              </a:rPr>
              <a:t>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4864" cy="868680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If a Genesis verse references Isaiah, how likely is it to also reference Jeremiah?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7EBF"/>
                </a:solidFill>
              </a:rPr>
              <a:t>Confidence(A → B)  =  Support(A and B)  ÷  Support(A)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A78"/>
                </a:solidFill>
              </a:rPr>
              <a:t>Example from the data: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59152"/>
            <a:ext cx="11155680" cy="713232"/>
          </a:xfrm>
          <a:prstGeom prst="rect">
            <a:avLst/>
          </a:prstGeom>
          <a:solidFill>
            <a:srgbClr val="F0F5FB"/>
          </a:solidFill>
          <a:ln>
            <a:solidFill>
              <a:srgbClr val="3A7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414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A78"/>
                </a:solidFill>
              </a:rPr>
              <a:t>Genesis 1:1  — a basket that contains BOTH Isaiah and Jeremiah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"In the beginning God created the heaven and the earth."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82112"/>
            <a:ext cx="5394960" cy="804672"/>
          </a:xfrm>
          <a:prstGeom prst="rect">
            <a:avLst/>
          </a:prstGeom>
          <a:solidFill>
            <a:srgbClr val="F0F5FB"/>
          </a:solidFill>
          <a:ln>
            <a:solidFill>
              <a:srgbClr val="3A7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2369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E4A78"/>
                </a:solidFill>
              </a:rPr>
              <a:t>Isaiah 37:16 (one of its cross-refs)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747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"O LORD of hosts, God of Israel, that dwellest between the cherubims, thou art the God, even thou alone…"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182112"/>
            <a:ext cx="5577840" cy="804672"/>
          </a:xfrm>
          <a:prstGeom prst="rect">
            <a:avLst/>
          </a:prstGeom>
          <a:solidFill>
            <a:srgbClr val="F0F5FB"/>
          </a:solidFill>
          <a:ln>
            <a:solidFill>
              <a:srgbClr val="3A7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32369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A78"/>
                </a:solidFill>
              </a:rPr>
              <a:t>Jeremiah 10:12 (another cross-ref in the same basket)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747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"He hath made the earth by his power, he hath established the world by his wisdom…"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965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89 baskets contain both Isaiah and Jeremiah.  246 contain Isaiah.  Confidence = 89 ÷ 246 = 0.36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So when a Genesis verse references Isaiah, there's a 36% chance it also references Jeremiah in the same cross-reference.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confidence_table.png">
            <a:extLst>
              <a:ext uri="{FF2B5EF4-FFF2-40B4-BE49-F238E27FC236}">
                <a16:creationId xmlns:a16="http://schemas.microsoft.com/office/drawing/2014/main" id="{63ECB592-0985-3232-16A8-1EA2BE630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1942568"/>
            <a:ext cx="11430000" cy="357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3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A78"/>
                </a:solidFill>
              </a:rPr>
              <a:t>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4864" cy="731520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22222"/>
                </a:solidFill>
              </a:rPr>
              <a:t>Is that 36% confidence actually meaningful</a:t>
            </a:r>
            <a:r>
              <a:rPr lang="en-US" sz="1400" dirty="0">
                <a:solidFill>
                  <a:srgbClr val="222222"/>
                </a:solidFill>
              </a:rPr>
              <a:t>, </a:t>
            </a:r>
            <a:r>
              <a:rPr sz="1400" b="0" i="0" dirty="0">
                <a:solidFill>
                  <a:srgbClr val="222222"/>
                </a:solidFill>
              </a:rPr>
              <a:t>or is it just because Jeremiah is commonly referenced anyway?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7EBF"/>
                </a:solidFill>
              </a:rPr>
              <a:t>Lift(A → B)  =  Confidence(A → B)  ÷  Support(B)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1005840" cy="347472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200253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Lift &gt;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00253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they co-occur more than you'd expect by chance 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1005840" cy="3474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245973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Lift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45973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independent — knowing A tells you nothing about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1005840" cy="347472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" y="2916936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Lift &lt;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91693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they actually avoid each other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A78"/>
                </a:solidFill>
              </a:rPr>
              <a:t>Back to our example — Isaiah → Jeremiah: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11155680" cy="960120"/>
          </a:xfrm>
          <a:prstGeom prst="rect">
            <a:avLst/>
          </a:prstGeom>
          <a:solidFill>
            <a:srgbClr val="F0F5FB"/>
          </a:solidFill>
          <a:ln>
            <a:solidFill>
              <a:srgbClr val="3A7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80390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A78"/>
                </a:solidFill>
              </a:rPr>
              <a:t>Isaiah → Jeremiah   |   Confidence = 0.36   ÷   Support(Jeremiah) = 0.19   =   Lift 1.90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41647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55555"/>
                </a:solidFill>
              </a:rPr>
              <a:t>Genesis verses that reference Isaiah cite Jeremiah nearly twice as often as you'd expect by chance.
This makes historical sense</a:t>
            </a:r>
            <a:r>
              <a:rPr lang="en-US" sz="1100" b="0" i="1" dirty="0">
                <a:solidFill>
                  <a:srgbClr val="555555"/>
                </a:solidFill>
              </a:rPr>
              <a:t>, </a:t>
            </a:r>
            <a:r>
              <a:rPr sz="1100" b="0" i="1" dirty="0">
                <a:solidFill>
                  <a:srgbClr val="555555"/>
                </a:solidFill>
              </a:rPr>
              <a:t>both prophets were active during the same Babylonian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lift_table.png">
            <a:extLst>
              <a:ext uri="{FF2B5EF4-FFF2-40B4-BE49-F238E27FC236}">
                <a16:creationId xmlns:a16="http://schemas.microsoft.com/office/drawing/2014/main" id="{0FCE6BA3-B1C4-4871-0BD0-D089F92BF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2115580"/>
            <a:ext cx="11430000" cy="325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1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7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A78"/>
                </a:solidFill>
              </a:rPr>
              <a:t>Putting It All Together</a:t>
            </a:r>
          </a:p>
        </p:txBody>
      </p:sp>
      <p:pic>
        <p:nvPicPr>
          <p:cNvPr id="4" name="Picture 3" descr="0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498079" cy="5314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4630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A78"/>
                </a:solidFill>
              </a:rPr>
              <a:t>X axis —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79222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how common the pattern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4688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A78"/>
                </a:solidFill>
              </a:rPr>
              <a:t>Y axis —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9806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how reliable the rule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474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A78"/>
                </a:solidFill>
              </a:rPr>
              <a:t>Color —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80390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how meaningful vs random chance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4805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A78"/>
                </a:solidFill>
              </a:rPr>
              <a:t>Top-right, warm 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80974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= the strongest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616</Words>
  <Application>Microsoft Macintosh PowerPoint</Application>
  <PresentationFormat>Custom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Stanley Nwaigwe</cp:lastModifiedBy>
  <cp:revision>2</cp:revision>
  <dcterms:created xsi:type="dcterms:W3CDTF">2013-01-27T09:14:16Z</dcterms:created>
  <dcterms:modified xsi:type="dcterms:W3CDTF">2026-05-11T20:32:48Z</dcterms:modified>
  <cp:category/>
</cp:coreProperties>
</file>